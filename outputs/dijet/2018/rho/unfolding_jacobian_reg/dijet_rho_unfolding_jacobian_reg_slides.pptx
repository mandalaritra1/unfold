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105a43f92a4212" /><Relationship Type="http://schemas.openxmlformats.org/officeDocument/2006/relationships/extended-properties" Target="/docProps/app.xml" Id="R6f8b3a4e4a5448d0" /><Relationship Type="http://schemas.openxmlformats.org/officeDocument/2006/relationships/officeDocument" Target="/ppt/presentation.xml" Id="Rd6b5ffcf3ee34d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4b9f9ecca541e1"/>
  </p:sldMasterIdLst>
  <p:notesMasterIdLst>
    <p:notesMasterId xmlns:r="http://schemas.openxmlformats.org/officeDocument/2006/relationships" r:id="Rb111cef358cc48db"/>
  </p:notesMasterIdLst>
  <p:sldIdLst>
    <p:sldId xmlns:r="http://schemas.openxmlformats.org/officeDocument/2006/relationships" id="256" r:id="R049caa247d7c4bf9"/>
    <p:sldId xmlns:r="http://schemas.openxmlformats.org/officeDocument/2006/relationships" id="257" r:id="R468ecc8ccfdf43b2"/>
    <p:sldId xmlns:r="http://schemas.openxmlformats.org/officeDocument/2006/relationships" id="258" r:id="Rd6f793999ee74055"/>
    <p:sldId xmlns:r="http://schemas.openxmlformats.org/officeDocument/2006/relationships" id="259" r:id="R85c7b366d6894ea8"/>
    <p:sldId xmlns:r="http://schemas.openxmlformats.org/officeDocument/2006/relationships" id="260" r:id="R3e0fe7ab50b44129"/>
    <p:sldId xmlns:r="http://schemas.openxmlformats.org/officeDocument/2006/relationships" id="261" r:id="Rbf97e44aac4741d3"/>
    <p:sldId xmlns:r="http://schemas.openxmlformats.org/officeDocument/2006/relationships" id="262" r:id="Recf72b840adb4549"/>
    <p:sldId xmlns:r="http://schemas.openxmlformats.org/officeDocument/2006/relationships" id="263" r:id="R7c397e96a8e542e0"/>
    <p:sldId xmlns:r="http://schemas.openxmlformats.org/officeDocument/2006/relationships" id="264" r:id="R005b82af69c74553"/>
    <p:sldId xmlns:r="http://schemas.openxmlformats.org/officeDocument/2006/relationships" id="265" r:id="R387bccc214994f96"/>
    <p:sldId xmlns:r="http://schemas.openxmlformats.org/officeDocument/2006/relationships" id="266" r:id="R1a242a0c10d64746"/>
    <p:sldId xmlns:r="http://schemas.openxmlformats.org/officeDocument/2006/relationships" id="267" r:id="Rd4cff31d163d44db"/>
    <p:sldId xmlns:r="http://schemas.openxmlformats.org/officeDocument/2006/relationships" id="268" r:id="R41b89a2603a44400"/>
    <p:sldId xmlns:r="http://schemas.openxmlformats.org/officeDocument/2006/relationships" id="269" r:id="R853112e0a31c49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160ec6279c4c48" /><Relationship Type="http://schemas.openxmlformats.org/officeDocument/2006/relationships/slideMaster" Target="/ppt/slideMasters/slideMaster1.xml" Id="R154b9f9ecca541e1" /><Relationship Type="http://schemas.openxmlformats.org/officeDocument/2006/relationships/notesMaster" Target="/ppt/notesMasters/notesMaster1.xml" Id="Rb111cef358cc48db" /><Relationship Type="http://schemas.openxmlformats.org/officeDocument/2006/relationships/presProps" Target="/ppt/presProps.xml" Id="R4b996076d58b41bf" /><Relationship Type="http://schemas.openxmlformats.org/officeDocument/2006/relationships/tableStyles" Target="/ppt/tableStyles.xml" Id="R7deb7e224cf64c03" /><Relationship Type="http://schemas.openxmlformats.org/officeDocument/2006/relationships/slide" Target="/ppt/slides/slide1.xml" Id="R049caa247d7c4bf9" /><Relationship Type="http://schemas.openxmlformats.org/officeDocument/2006/relationships/slide" Target="/ppt/slides/slide2.xml" Id="R468ecc8ccfdf43b2" /><Relationship Type="http://schemas.openxmlformats.org/officeDocument/2006/relationships/slide" Target="/ppt/slides/slide3.xml" Id="Rd6f793999ee74055" /><Relationship Type="http://schemas.openxmlformats.org/officeDocument/2006/relationships/slide" Target="/ppt/slides/slide4.xml" Id="R85c7b366d6894ea8" /><Relationship Type="http://schemas.openxmlformats.org/officeDocument/2006/relationships/slide" Target="/ppt/slides/slide5.xml" Id="R3e0fe7ab50b44129" /><Relationship Type="http://schemas.openxmlformats.org/officeDocument/2006/relationships/slide" Target="/ppt/slides/slide6.xml" Id="Rbf97e44aac4741d3" /><Relationship Type="http://schemas.openxmlformats.org/officeDocument/2006/relationships/slide" Target="/ppt/slides/slide7.xml" Id="Recf72b840adb4549" /><Relationship Type="http://schemas.openxmlformats.org/officeDocument/2006/relationships/slide" Target="/ppt/slides/slide8.xml" Id="R7c397e96a8e542e0" /><Relationship Type="http://schemas.openxmlformats.org/officeDocument/2006/relationships/slide" Target="/ppt/slides/slide9.xml" Id="R005b82af69c74553" /><Relationship Type="http://schemas.openxmlformats.org/officeDocument/2006/relationships/slide" Target="/ppt/slides/slide10.xml" Id="R387bccc214994f96" /><Relationship Type="http://schemas.openxmlformats.org/officeDocument/2006/relationships/slide" Target="/ppt/slides/slide11.xml" Id="R1a242a0c10d64746" /><Relationship Type="http://schemas.openxmlformats.org/officeDocument/2006/relationships/slide" Target="/ppt/slides/slide12.xml" Id="Rd4cff31d163d44db" /><Relationship Type="http://schemas.openxmlformats.org/officeDocument/2006/relationships/slide" Target="/ppt/slides/slide13.xml" Id="R41b89a2603a44400" /><Relationship Type="http://schemas.openxmlformats.org/officeDocument/2006/relationships/slide" Target="/ppt/slides/slide14.xml" Id="R853112e0a31c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57f17681a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9a16d5d3454288" /><Relationship Type="http://schemas.openxmlformats.org/officeDocument/2006/relationships/notesMaster" Target="/ppt/notesMasters/notesMaster1.xml" Id="Rc6fea81503c7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faa2caaada478d" /><Relationship Type="http://schemas.openxmlformats.org/officeDocument/2006/relationships/notesMaster" Target="/ppt/notesMasters/notesMaster1.xml" Id="R499fdbdbaec7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5384ede97d4da4" /><Relationship Type="http://schemas.openxmlformats.org/officeDocument/2006/relationships/notesMaster" Target="/ppt/notesMasters/notesMaster1.xml" Id="Rb10c042e5922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5e37d4f7ad44e1" /><Relationship Type="http://schemas.openxmlformats.org/officeDocument/2006/relationships/notesMaster" Target="/ppt/notesMasters/notesMaster1.xml" Id="Rb39dc484b9b8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19cb73b5b349e2" /><Relationship Type="http://schemas.openxmlformats.org/officeDocument/2006/relationships/notesMaster" Target="/ppt/notesMasters/notesMaster1.xml" Id="Rcae54588d44645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8f7aefda9c43b0" /><Relationship Type="http://schemas.openxmlformats.org/officeDocument/2006/relationships/notesMaster" Target="/ppt/notesMasters/notesMaster1.xml" Id="R8e006f52556a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a594d2bf584c69" /><Relationship Type="http://schemas.openxmlformats.org/officeDocument/2006/relationships/notesMaster" Target="/ppt/notesMasters/notesMaster1.xml" Id="R24c8b962e5ca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7e745b4c54541" /><Relationship Type="http://schemas.openxmlformats.org/officeDocument/2006/relationships/notesMaster" Target="/ppt/notesMasters/notesMaster1.xml" Id="Rcc3fc7fc389741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f7b70932d4352" /><Relationship Type="http://schemas.openxmlformats.org/officeDocument/2006/relationships/notesMaster" Target="/ppt/notesMasters/notesMaster1.xml" Id="R155b36a1851e4b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84ea797ca94346" /><Relationship Type="http://schemas.openxmlformats.org/officeDocument/2006/relationships/notesMaster" Target="/ppt/notesMasters/notesMaster1.xml" Id="R2089a7cde52e43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2573605ec24d81" /><Relationship Type="http://schemas.openxmlformats.org/officeDocument/2006/relationships/notesMaster" Target="/ppt/notesMasters/notesMaster1.xml" Id="R35d5133ebb1b4c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1e2ffae74e4f10" /><Relationship Type="http://schemas.openxmlformats.org/officeDocument/2006/relationships/notesMaster" Target="/ppt/notesMasters/notesMaster1.xml" Id="R8b5a8d965ea14a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802ce6f149497a" /><Relationship Type="http://schemas.openxmlformats.org/officeDocument/2006/relationships/notesMaster" Target="/ppt/notesMasters/notesMaster1.xml" Id="R0a3e77fe37a14e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4071a75fa1423d" /><Relationship Type="http://schemas.openxmlformats.org/officeDocument/2006/relationships/notesMaster" Target="/ppt/notesMasters/notesMaster1.xml" Id="R2b91c8207edf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09929a5ed46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2c86fa9b6646b8" /><Relationship Type="http://schemas.openxmlformats.org/officeDocument/2006/relationships/slideLayout" Target="/ppt/slideLayouts/slideLayout1.xml" Id="R54245aa191224b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45aa191224b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0b6c5f86d45f5" /><Relationship Type="http://schemas.openxmlformats.org/officeDocument/2006/relationships/notesSlide" Target="/ppt/notesSlides/notesSlide1.xml" Id="R97b1c7b984d045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150c7199647ec" /><Relationship Type="http://schemas.openxmlformats.org/officeDocument/2006/relationships/notesSlide" Target="/ppt/notesSlides/notesSlide2.xml" Id="Rcf9eb82c5ed6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3543f700242b6" /><Relationship Type="http://schemas.openxmlformats.org/officeDocument/2006/relationships/image" Target="/ppt/media/image.png" Id="Raa6d621f83f9452b" /><Relationship Type="http://schemas.openxmlformats.org/officeDocument/2006/relationships/image" Target="/ppt/media/image2.png" Id="R316db2d55a4a45e8" /><Relationship Type="http://schemas.openxmlformats.org/officeDocument/2006/relationships/notesSlide" Target="/ppt/notesSlides/notesSlide3.xml" Id="Rf60f2e70432b44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cc47ec7684d1a" /><Relationship Type="http://schemas.openxmlformats.org/officeDocument/2006/relationships/image" Target="/ppt/media/image3.png" Id="Re0f0110102c84531" /><Relationship Type="http://schemas.openxmlformats.org/officeDocument/2006/relationships/image" Target="/ppt/media/image4.png" Id="R14dc79e4c6d741f4" /><Relationship Type="http://schemas.openxmlformats.org/officeDocument/2006/relationships/notesSlide" Target="/ppt/notesSlides/notesSlide4.xml" Id="R3765317bf2f64a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f7ebadf95432f" /><Relationship Type="http://schemas.openxmlformats.org/officeDocument/2006/relationships/image" Target="/ppt/media/image5.png" Id="Recde03334ba84059" /><Relationship Type="http://schemas.openxmlformats.org/officeDocument/2006/relationships/image" Target="/ppt/media/image6.png" Id="R76376bc35e824c18" /><Relationship Type="http://schemas.openxmlformats.org/officeDocument/2006/relationships/notesSlide" Target="/ppt/notesSlides/notesSlide5.xml" Id="R595327d090814d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44169fd7c4cf3" /><Relationship Type="http://schemas.openxmlformats.org/officeDocument/2006/relationships/image" Target="/ppt/media/image7.png" Id="R02f5f7299fb54474" /><Relationship Type="http://schemas.openxmlformats.org/officeDocument/2006/relationships/image" Target="/ppt/media/image8.png" Id="R2ac5203264184694" /><Relationship Type="http://schemas.openxmlformats.org/officeDocument/2006/relationships/notesSlide" Target="/ppt/notesSlides/notesSlide6.xml" Id="R34fad8dbe4eb4b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9f258a69c4881" /><Relationship Type="http://schemas.openxmlformats.org/officeDocument/2006/relationships/image" Target="/ppt/media/image9.png" Id="Rf5e33a86c77e4fe3" /><Relationship Type="http://schemas.openxmlformats.org/officeDocument/2006/relationships/image" Target="/ppt/media/image10.png" Id="R59d629b940db492d" /><Relationship Type="http://schemas.openxmlformats.org/officeDocument/2006/relationships/notesSlide" Target="/ppt/notesSlides/notesSlide7.xml" Id="Ra50347e2c185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f54543f764e20" /><Relationship Type="http://schemas.openxmlformats.org/officeDocument/2006/relationships/image" Target="/ppt/media/image11.png" Id="R36c945f714d54355" /><Relationship Type="http://schemas.openxmlformats.org/officeDocument/2006/relationships/image" Target="/ppt/media/image12.png" Id="Rf657604e9b684c99" /><Relationship Type="http://schemas.openxmlformats.org/officeDocument/2006/relationships/image" Target="/ppt/media/image13.png" Id="Rb27f7c4313e04256" /><Relationship Type="http://schemas.openxmlformats.org/officeDocument/2006/relationships/image" Target="/ppt/media/image14.png" Id="R842a998f902146c1" /><Relationship Type="http://schemas.openxmlformats.org/officeDocument/2006/relationships/image" Target="/ppt/media/image15.png" Id="R80d9a7415bf442d9" /><Relationship Type="http://schemas.openxmlformats.org/officeDocument/2006/relationships/notesSlide" Target="/ppt/notesSlides/notesSlide8.xml" Id="R6c0bb97ff3c746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0b06f298c4a6c" /><Relationship Type="http://schemas.openxmlformats.org/officeDocument/2006/relationships/image" Target="/ppt/media/image16.png" Id="R11bfabfa2d7448a9" /><Relationship Type="http://schemas.openxmlformats.org/officeDocument/2006/relationships/image" Target="/ppt/media/image17.png" Id="R50037fb17e544997" /><Relationship Type="http://schemas.openxmlformats.org/officeDocument/2006/relationships/image" Target="/ppt/media/image18.png" Id="Rd403c13f5c5c4bef" /><Relationship Type="http://schemas.openxmlformats.org/officeDocument/2006/relationships/image" Target="/ppt/media/image19.png" Id="R07d8e97819c04752" /><Relationship Type="http://schemas.openxmlformats.org/officeDocument/2006/relationships/image" Target="/ppt/media/image20.png" Id="Rdfd26825d7434b38" /><Relationship Type="http://schemas.openxmlformats.org/officeDocument/2006/relationships/notesSlide" Target="/ppt/notesSlides/notesSlide9.xml" Id="Rd8f1012ae95c4d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f6964c4114b5b" /><Relationship Type="http://schemas.openxmlformats.org/officeDocument/2006/relationships/image" Target="/ppt/media/image21.png" Id="R81c93cd688ba4695" /><Relationship Type="http://schemas.openxmlformats.org/officeDocument/2006/relationships/image" Target="/ppt/media/image22.png" Id="Rcb1ac94e9b134587" /><Relationship Type="http://schemas.openxmlformats.org/officeDocument/2006/relationships/image" Target="/ppt/media/image23.png" Id="R6769ddaebee54b21" /><Relationship Type="http://schemas.openxmlformats.org/officeDocument/2006/relationships/image" Target="/ppt/media/image24.png" Id="Rb5d17776a6054fad" /><Relationship Type="http://schemas.openxmlformats.org/officeDocument/2006/relationships/image" Target="/ppt/media/image25.png" Id="R6ad3c60b2ead4c80" /><Relationship Type="http://schemas.openxmlformats.org/officeDocument/2006/relationships/notesSlide" Target="/ppt/notesSlides/notesSlide10.xml" Id="R70b0184ca70242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90f28b6964161" /><Relationship Type="http://schemas.openxmlformats.org/officeDocument/2006/relationships/image" Target="/ppt/media/image26.png" Id="R2dc8fe1d64114340" /><Relationship Type="http://schemas.openxmlformats.org/officeDocument/2006/relationships/image" Target="/ppt/media/image27.png" Id="Rc4ea501991f448fa" /><Relationship Type="http://schemas.openxmlformats.org/officeDocument/2006/relationships/image" Target="/ppt/media/image28.png" Id="R8ae2f4f150de4df2" /><Relationship Type="http://schemas.openxmlformats.org/officeDocument/2006/relationships/image" Target="/ppt/media/image29.png" Id="Re71b2fca19644342" /><Relationship Type="http://schemas.openxmlformats.org/officeDocument/2006/relationships/image" Target="/ppt/media/image30.png" Id="R5406023879064f5a" /><Relationship Type="http://schemas.openxmlformats.org/officeDocument/2006/relationships/notesSlide" Target="/ppt/notesSlides/notesSlide11.xml" Id="R7b081de646274a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61cc2f8e4654" /><Relationship Type="http://schemas.openxmlformats.org/officeDocument/2006/relationships/image" Target="/ppt/media/image31.png" Id="Re8416f6f76b24dd8" /><Relationship Type="http://schemas.openxmlformats.org/officeDocument/2006/relationships/image" Target="/ppt/media/image32.png" Id="R163b908f712c4893" /><Relationship Type="http://schemas.openxmlformats.org/officeDocument/2006/relationships/notesSlide" Target="/ppt/notesSlides/notesSlide12.xml" Id="R47b1e3f02e374f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5f9339ff344e4" /><Relationship Type="http://schemas.openxmlformats.org/officeDocument/2006/relationships/image" Target="/ppt/media/image33.png" Id="Rffea884bc4db4cae" /><Relationship Type="http://schemas.openxmlformats.org/officeDocument/2006/relationships/image" Target="/ppt/media/image34.png" Id="Rf7a71ff52c95451b" /><Relationship Type="http://schemas.openxmlformats.org/officeDocument/2006/relationships/notesSlide" Target="/ppt/notesSlides/notesSlide13.xml" Id="R1c6a40263c944f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5d0d99d2b44df" /><Relationship Type="http://schemas.openxmlformats.org/officeDocument/2006/relationships/image" Target="/ppt/media/image35.png" Id="R139cefd1680149f0" /><Relationship Type="http://schemas.openxmlformats.org/officeDocument/2006/relationships/image" Target="/ppt/media/image36.png" Id="R35ad5e21df1041c4" /><Relationship Type="http://schemas.openxmlformats.org/officeDocument/2006/relationships/notesSlide" Target="/ppt/notesSlides/notesSlide14.xml" Id="R546410c50fd8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9700B-BB48-4C74-B3E5-035B793B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Dijet rho unfolding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AC87F-F02F-4583-A227-6590468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2018, Jacobian statistical propagation,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B00AE-05D0-4BC6-A5BC-14D1A53E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766E"/>
                </a:solidFill>
              </a:defRPr>
            </a:pPr>
            <a:r>
              <a:rPr sz="1500">
                <a:solidFill>
                  <a:srgbClr val="0F766E"/>
                </a:solidFill>
              </a:rPr>
              <a:t>Key outputs: unfolded spectra, response/correlation matrices, L-curves, grouped uncertainties, and diagnostics.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0317B-F74C-4534-999F-27F2CD3D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671A1-C9E1-4068-8DC3-84FC8FC2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072371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59E42-F389-42FD-A0A5-A34FAD34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Run configuration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1E251-FD7F-4EDD-B6AB-45275338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6D5AA-7697-4903-999C-ED71D89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Command: python scripts/run_unfolding.py --channel dijet --observable rho --year 2018 --jacobian --regularization ratio_curvature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D13BD-8360-4CC5-95EB-1D65D3C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766E"/>
                </a:solidFill>
              </a:defRPr>
            </a:pPr>
            <a:r>
              <a:rPr sz="180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CD1B5-4ACA-47E7-90E4-D55C2A2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Output: outputs/dijet/2018/rho/unfolding_jacobian_reg/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DB6E9-2EB1-4AE5-B571-30D2D0C6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766E"/>
                </a:solidFill>
              </a:defRPr>
            </a:pPr>
            <a:r>
              <a:rPr sz="180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AEE1-0BC3-44FB-978B-26A5C1DC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Resolved tau: ungroomed 0.7907, groomed 0.6954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598AE-039D-4CA7-BA2B-3611E99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766E"/>
                </a:solidFill>
              </a:defRPr>
            </a:pPr>
            <a:r>
              <a:rPr sz="180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A8A78-FA8A-455D-A31D-05F97F6C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Uncertainties are partial: input-data statistics plus available response variations.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DC4DD-E5B6-4A76-A2EA-1C2FE916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766E"/>
                </a:solidFill>
              </a:defRPr>
            </a:pPr>
            <a:r>
              <a:rPr sz="180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38947-86C6-4C0C-BA56-4B94AB54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45309"/>
                </a:solidFill>
              </a:defRPr>
            </a:pPr>
            <a:r>
              <a:rPr sz="1575">
                <a:solidFill>
                  <a:srgbClr val="B45309"/>
                </a:solidFill>
              </a:rPr>
              <a:t>Excluded by design for dijet/trijet inputs: response MC statistics and HERWIG/model uncertainty.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47280-48C0-4E23-8BB4-EBD99D14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766E"/>
                </a:solidFill>
              </a:defRPr>
            </a:pPr>
            <a:r>
              <a:rPr sz="180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EE908-5E68-48E9-9CE2-3D9E698E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3F7CC-9610-49D5-8986-2264DEB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945146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DCBDF0-C4A4-4FB6-A7C4-E779E78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Unfolded results: summary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7D44A-5335-4E51-A324-3E5EEC6D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285D7-081F-42BF-92A3-61447AF6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d621f83f9452b"/>
          <a:stretch xmlns:a="http://schemas.openxmlformats.org/drawingml/2006/main"/>
        </p:blipFill>
        <p:spPr>
          <a:xfrm xmlns:a="http://schemas.openxmlformats.org/drawingml/2006/main">
            <a:off x="505088" y="990600"/>
            <a:ext cx="5371575" cy="5219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1BCDE-01A4-4A5C-8C5D-AB8C9C7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db2d55a4a45e8"/>
          <a:stretch xmlns:a="http://schemas.openxmlformats.org/drawingml/2006/main"/>
        </p:blipFill>
        <p:spPr>
          <a:xfrm xmlns:a="http://schemas.openxmlformats.org/drawingml/2006/main">
            <a:off x="6351308" y="990600"/>
            <a:ext cx="5299634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C646F-EAC5-4AD6-B8DE-FB1AC0B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13C24-7FF5-4D1B-9D1C-F88F7A51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688661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2EE16-F95A-4931-B433-F3527F83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Unfolded results: full unrolled spectra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83EF0-533B-4DF9-A66B-39552023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FB264-3750-4979-ABCE-0204772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0110102c84531"/>
          <a:stretch xmlns:a="http://schemas.openxmlformats.org/drawingml/2006/main"/>
        </p:blipFill>
        <p:spPr>
          <a:xfrm xmlns:a="http://schemas.openxmlformats.org/drawingml/2006/main">
            <a:off x="495300" y="2110168"/>
            <a:ext cx="5391150" cy="298056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83CA5-0D1F-48FA-9616-6FAD8FB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79e4c6d741f4"/>
          <a:stretch xmlns:a="http://schemas.openxmlformats.org/drawingml/2006/main"/>
        </p:blipFill>
        <p:spPr>
          <a:xfrm xmlns:a="http://schemas.openxmlformats.org/drawingml/2006/main">
            <a:off x="6305550" y="2128389"/>
            <a:ext cx="5391150" cy="294412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9E3E9-CC7D-48A5-BA03-60D52D79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BBE87-73E1-4EEE-B64C-916FE3D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568903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1B265-EBF2-4BEF-8C9B-9FA0A7A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Response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3AB2B-77E9-4F62-A836-4F1AC3D8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20AAB-18DB-4C3A-8EFD-2E1696C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e03334ba84059"/>
          <a:stretch xmlns:a="http://schemas.openxmlformats.org/drawingml/2006/main"/>
        </p:blipFill>
        <p:spPr>
          <a:xfrm xmlns:a="http://schemas.openxmlformats.org/drawingml/2006/main">
            <a:off x="495300" y="1289957"/>
            <a:ext cx="5391150" cy="46209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96ED3-09C5-4403-A55C-691227B0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76bc35e824c18"/>
          <a:stretch xmlns:a="http://schemas.openxmlformats.org/drawingml/2006/main"/>
        </p:blipFill>
        <p:spPr>
          <a:xfrm xmlns:a="http://schemas.openxmlformats.org/drawingml/2006/main">
            <a:off x="6305550" y="1289957"/>
            <a:ext cx="5391150" cy="46209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45AE1-8884-4B92-9C0E-09241EB9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34D4E-E0A8-4BD7-A786-D09C1C31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401714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5E0EE-5592-404B-9503-FFC0199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Normalized statistical correlations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16741-888E-45D2-B702-C2AC6E00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08D22-FD41-46FD-A51A-EA9B042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5f7299fb54474"/>
          <a:stretch xmlns:a="http://schemas.openxmlformats.org/drawingml/2006/main"/>
        </p:blipFill>
        <p:spPr>
          <a:xfrm xmlns:a="http://schemas.openxmlformats.org/drawingml/2006/main">
            <a:off x="495300" y="1255126"/>
            <a:ext cx="5391150" cy="469064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44115-B9BF-41CE-8D4D-D2E93B6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5203264184694"/>
          <a:stretch xmlns:a="http://schemas.openxmlformats.org/drawingml/2006/main"/>
        </p:blipFill>
        <p:spPr>
          <a:xfrm xmlns:a="http://schemas.openxmlformats.org/drawingml/2006/main">
            <a:off x="6305550" y="1255126"/>
            <a:ext cx="5391150" cy="46906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BE891-3ACE-43B6-8DF4-BBBE0725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FB438-C33C-419C-8A5A-FCC6BE9E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200225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13883-2B25-47DE-A0B5-134C9BD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L-curve regularization scans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DDA9C-0502-4C92-8021-226400FA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AA491-F912-4750-9AFB-BFB34865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 tau = 0.7907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33a86c77e4fe3"/>
          <a:stretch xmlns:a="http://schemas.openxmlformats.org/drawingml/2006/main"/>
        </p:blipFill>
        <p:spPr>
          <a:xfrm xmlns:a="http://schemas.openxmlformats.org/drawingml/2006/main">
            <a:off x="495300" y="1229366"/>
            <a:ext cx="5391150" cy="47421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5900E-F94D-4A44-B541-52D9835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 tau = 0.6954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629b940db492d"/>
          <a:stretch xmlns:a="http://schemas.openxmlformats.org/drawingml/2006/main"/>
        </p:blipFill>
        <p:spPr>
          <a:xfrm xmlns:a="http://schemas.openxmlformats.org/drawingml/2006/main">
            <a:off x="6305550" y="1206371"/>
            <a:ext cx="5391150" cy="47881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FC2D2-3D36-436A-84FB-713B4186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2F731-CD08-4F6F-AB93-1A92B401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574080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3AA47-E047-467E-8802-373D856C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Unfolded panels: ungroomed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4DD2D-547F-405B-9BF4-C6F2C055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08AFF-EBDC-4BB9-BACA-C1EC6190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200-290 GeV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945f714d54355"/>
          <a:stretch xmlns:a="http://schemas.openxmlformats.org/drawingml/2006/main"/>
        </p:blipFill>
        <p:spPr>
          <a:xfrm xmlns:a="http://schemas.openxmlformats.org/drawingml/2006/main">
            <a:off x="1013386" y="895350"/>
            <a:ext cx="2354729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85E0-4820-4FD6-9B76-3A1C9470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290-400 GeV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7604e9b684c99"/>
          <a:stretch xmlns:a="http://schemas.openxmlformats.org/drawingml/2006/main"/>
        </p:blipFill>
        <p:spPr>
          <a:xfrm xmlns:a="http://schemas.openxmlformats.org/drawingml/2006/main">
            <a:off x="4918636" y="895350"/>
            <a:ext cx="2354729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46DFE-25CF-4550-9386-2809F7C9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400-570 GeV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f7c4313e04256"/>
          <a:stretch xmlns:a="http://schemas.openxmlformats.org/drawingml/2006/main"/>
        </p:blipFill>
        <p:spPr>
          <a:xfrm xmlns:a="http://schemas.openxmlformats.org/drawingml/2006/main">
            <a:off x="8823886" y="895350"/>
            <a:ext cx="2354729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D17CA-6165-4A81-B2F3-4B7BFAB7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570-760 GeV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a998f902146c1"/>
          <a:stretch xmlns:a="http://schemas.openxmlformats.org/drawingml/2006/main"/>
        </p:blipFill>
        <p:spPr>
          <a:xfrm xmlns:a="http://schemas.openxmlformats.org/drawingml/2006/main">
            <a:off x="2823136" y="3714750"/>
            <a:ext cx="2354729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50BE2-D80F-4C16-8F3A-76A1E2D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&gt; 760 GeV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9a7415bf442d9"/>
          <a:stretch xmlns:a="http://schemas.openxmlformats.org/drawingml/2006/main"/>
        </p:blipFill>
        <p:spPr>
          <a:xfrm xmlns:a="http://schemas.openxmlformats.org/drawingml/2006/main">
            <a:off x="7014136" y="3714750"/>
            <a:ext cx="2354729" cy="2381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ED78E-A8DF-49E4-A9C7-DE2E4BC3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8F32E-45A1-4C60-B300-5CDE153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92345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9F13E7-801A-445E-AC4F-42D5DA7A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Unfolded panels: groomed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C18DC-1DD2-4626-8ABD-2380848A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FAB9D-28F2-44EE-A16B-5BAB7ED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200-290 GeV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fabfa2d7448a9"/>
          <a:stretch xmlns:a="http://schemas.openxmlformats.org/drawingml/2006/main"/>
        </p:blipFill>
        <p:spPr>
          <a:xfrm xmlns:a="http://schemas.openxmlformats.org/drawingml/2006/main">
            <a:off x="1007703" y="895350"/>
            <a:ext cx="2366095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A9953-948E-4E84-A322-881FDAC9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290-400 GeV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37fb17e544997"/>
          <a:stretch xmlns:a="http://schemas.openxmlformats.org/drawingml/2006/main"/>
        </p:blipFill>
        <p:spPr>
          <a:xfrm xmlns:a="http://schemas.openxmlformats.org/drawingml/2006/main">
            <a:off x="4912953" y="895350"/>
            <a:ext cx="2366095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E8F54-A911-494C-A860-A55A483A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400-570 GeV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3c13f5c5c4bef"/>
          <a:stretch xmlns:a="http://schemas.openxmlformats.org/drawingml/2006/main"/>
        </p:blipFill>
        <p:spPr>
          <a:xfrm xmlns:a="http://schemas.openxmlformats.org/drawingml/2006/main">
            <a:off x="8818203" y="895350"/>
            <a:ext cx="2366095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7BD99-398E-4BA0-A204-011A34AB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570-760 GeV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e97819c04752"/>
          <a:stretch xmlns:a="http://schemas.openxmlformats.org/drawingml/2006/main"/>
        </p:blipFill>
        <p:spPr>
          <a:xfrm xmlns:a="http://schemas.openxmlformats.org/drawingml/2006/main">
            <a:off x="2826925" y="3714750"/>
            <a:ext cx="2347151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0655C-5E4C-4C10-9A30-5269D80E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&gt; 760 GeV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26825d7434b38"/>
          <a:stretch xmlns:a="http://schemas.openxmlformats.org/drawingml/2006/main"/>
        </p:blipFill>
        <p:spPr>
          <a:xfrm xmlns:a="http://schemas.openxmlformats.org/drawingml/2006/main">
            <a:off x="7008453" y="3714750"/>
            <a:ext cx="2366095" cy="2381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FBAB2-097B-4C00-83D4-BFBB797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77ACA-F999-4373-9330-4E23A09B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035924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A8C6E-CF83-41BA-A54E-63BDC2E4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Grouped uncertainty summary: ungroomed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2E3E3-9EEB-4655-905E-C39F3A3C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7D0E9-63EE-403F-BB3F-B856074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200-290 GeV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93cd688ba4695"/>
          <a:stretch xmlns:a="http://schemas.openxmlformats.org/drawingml/2006/main"/>
        </p:blipFill>
        <p:spPr>
          <a:xfrm xmlns:a="http://schemas.openxmlformats.org/drawingml/2006/main">
            <a:off x="381000" y="11357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B225-1E5F-4049-AA6F-DF184E8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290-400 GeV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ac94e9b134587"/>
          <a:stretch xmlns:a="http://schemas.openxmlformats.org/drawingml/2006/main"/>
        </p:blipFill>
        <p:spPr>
          <a:xfrm xmlns:a="http://schemas.openxmlformats.org/drawingml/2006/main">
            <a:off x="4286250" y="11357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29C5D-A895-4D84-AB52-D9F6889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400-570 GeV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9ddaebee54b21"/>
          <a:stretch xmlns:a="http://schemas.openxmlformats.org/drawingml/2006/main"/>
        </p:blipFill>
        <p:spPr>
          <a:xfrm xmlns:a="http://schemas.openxmlformats.org/drawingml/2006/main">
            <a:off x="8191500" y="11357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19DF2-6C41-4462-AC28-AF73332F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570-760 GeV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17776a6054fad"/>
          <a:stretch xmlns:a="http://schemas.openxmlformats.org/drawingml/2006/main"/>
        </p:blipFill>
        <p:spPr>
          <a:xfrm xmlns:a="http://schemas.openxmlformats.org/drawingml/2006/main">
            <a:off x="2190750" y="39551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7F2B8-5A2F-4579-8764-3EB435F6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&gt; 760 GeV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3c60b2ead4c80"/>
          <a:stretch xmlns:a="http://schemas.openxmlformats.org/drawingml/2006/main"/>
        </p:blipFill>
        <p:spPr>
          <a:xfrm xmlns:a="http://schemas.openxmlformats.org/drawingml/2006/main">
            <a:off x="6381750" y="3911017"/>
            <a:ext cx="3619500" cy="19887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BBED9-EBF9-4B1F-88CB-59A236B2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CAAAE-4D0D-48C7-BC21-649DC00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38458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5BD62-D8E2-4687-9B42-2655660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Grouped uncertainty summary: groomed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41967-5850-47ED-82A3-823F174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A9DDF-BDAA-4B1F-957A-A2F4A21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200-290 GeV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8fe1d64114340"/>
          <a:stretch xmlns:a="http://schemas.openxmlformats.org/drawingml/2006/main"/>
        </p:blipFill>
        <p:spPr>
          <a:xfrm xmlns:a="http://schemas.openxmlformats.org/drawingml/2006/main">
            <a:off x="381000" y="11357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FF572-2477-4D81-AB99-8475E29A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290-400 GeV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a501991f448fa"/>
          <a:stretch xmlns:a="http://schemas.openxmlformats.org/drawingml/2006/main"/>
        </p:blipFill>
        <p:spPr>
          <a:xfrm xmlns:a="http://schemas.openxmlformats.org/drawingml/2006/main">
            <a:off x="4286250" y="11357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32DBE-C62A-4AB3-921F-5F34621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5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400-570 GeV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2f4f150de4df2"/>
          <a:stretch xmlns:a="http://schemas.openxmlformats.org/drawingml/2006/main"/>
        </p:blipFill>
        <p:spPr>
          <a:xfrm xmlns:a="http://schemas.openxmlformats.org/drawingml/2006/main">
            <a:off x="8191500" y="11357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D3F43-0184-47E0-B595-2F69886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570-760 GeV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b2fca19644342"/>
          <a:stretch xmlns:a="http://schemas.openxmlformats.org/drawingml/2006/main"/>
        </p:blipFill>
        <p:spPr>
          <a:xfrm xmlns:a="http://schemas.openxmlformats.org/drawingml/2006/main">
            <a:off x="2190750" y="3955125"/>
            <a:ext cx="3619500" cy="190049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4F5B0-138B-4BBE-AADF-6345492D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&gt; 760 GeV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6023879064f5a"/>
          <a:stretch xmlns:a="http://schemas.openxmlformats.org/drawingml/2006/main"/>
        </p:blipFill>
        <p:spPr>
          <a:xfrm xmlns:a="http://schemas.openxmlformats.org/drawingml/2006/main">
            <a:off x="6381750" y="3911017"/>
            <a:ext cx="3619500" cy="19887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77496-3F6D-4730-AB52-2C639EF6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B34E5-3E61-49F7-90C1-EB036DB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980388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8CF03-FDBA-40C1-A49A-A2B32D8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Statistical uncertainty fractions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FF6C0-296F-4314-9F68-268D9A5B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CB604-9F2A-49F0-B97B-11659E4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Ungroomed, 400-570 GeV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16f6f76b24dd8"/>
          <a:stretch xmlns:a="http://schemas.openxmlformats.org/drawingml/2006/main"/>
        </p:blipFill>
        <p:spPr>
          <a:xfrm xmlns:a="http://schemas.openxmlformats.org/drawingml/2006/main">
            <a:off x="495300" y="1016245"/>
            <a:ext cx="5391150" cy="516840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D0D31-EECC-4AB7-B7F3-D5684E2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Groomed, 400-570 GeV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b908f712c4893"/>
          <a:stretch xmlns:a="http://schemas.openxmlformats.org/drawingml/2006/main"/>
        </p:blipFill>
        <p:spPr>
          <a:xfrm xmlns:a="http://schemas.openxmlformats.org/drawingml/2006/main">
            <a:off x="6316291" y="990600"/>
            <a:ext cx="5369667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8569E-B0C5-4057-AC58-4938F6B9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10D87-C67E-4783-BB4F-8A4BA89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4785741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30336C-69D7-4296-9998-E6DEE81C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Fake-rate and efficiency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BF968-B722-4F52-8EB2-DFB2A26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5FAD6-8D00-44BA-A20C-DF5E05A8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Ungroomed, 400-570 GeV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a884bc4db4cae"/>
          <a:stretch xmlns:a="http://schemas.openxmlformats.org/drawingml/2006/main"/>
        </p:blipFill>
        <p:spPr>
          <a:xfrm xmlns:a="http://schemas.openxmlformats.org/drawingml/2006/main">
            <a:off x="706921" y="990600"/>
            <a:ext cx="4967907" cy="5219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487A5-42DE-441A-AAD9-2E300DD5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Groomed, 400-570 GeV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71ff52c95451b"/>
          <a:stretch xmlns:a="http://schemas.openxmlformats.org/drawingml/2006/main"/>
        </p:blipFill>
        <p:spPr>
          <a:xfrm xmlns:a="http://schemas.openxmlformats.org/drawingml/2006/main">
            <a:off x="6553142" y="990600"/>
            <a:ext cx="4895967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0A57E-6A84-479F-BC76-0E27D897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38C89-A8DA-44D5-9F0E-5530DF26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1448152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57426-3176-4696-9F33-671431B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Purity and stability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F2265-DC8A-4D6B-B5FB-59AF92AC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dijet 2018 rho | Jacobian + ratio-curvature regularization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BDF7E-A789-4ADB-9CEE-7D65520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Ungroomed, 400-570 GeV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cefd1680149f0"/>
          <a:stretch xmlns:a="http://schemas.openxmlformats.org/drawingml/2006/main"/>
        </p:blipFill>
        <p:spPr>
          <a:xfrm xmlns:a="http://schemas.openxmlformats.org/drawingml/2006/main">
            <a:off x="591017" y="990600"/>
            <a:ext cx="5199716" cy="5219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B28BA-3842-45A1-8A76-5AC3F8C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239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Groomed, 400-570 GeV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d5e21df1041c4"/>
          <a:stretch xmlns:a="http://schemas.openxmlformats.org/drawingml/2006/main"/>
        </p:blipFill>
        <p:spPr>
          <a:xfrm xmlns:a="http://schemas.openxmlformats.org/drawingml/2006/main">
            <a:off x="6437237" y="990600"/>
            <a:ext cx="5127776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2969C-836A-435A-8109-6F7C838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5E03F-63B3-477A-B8F5-06C5635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  <a:r>
              <a:rPr sz="750">
                <a:solidFill>
                  <a:srgbClr val="475569"/>
                </a:solidFill>
              </a:rPr>
              <a:t>Generated from outputs/dijet/2018/rho/unfolding_jacobian_reg</a:t>
            </a:r>
          </a:p>
        </p:txBody>
      </p:sp>
    </p:spTree>
    <p:extLst>
      <p:ext uri="{BB962C8B-B14F-4D97-AF65-F5344CB8AC3E}">
        <p14:creationId xmlns:p14="http://schemas.microsoft.com/office/powerpoint/2010/main" val="588020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2026-06-16T13:02:05.8050000Z</dcterms:created>
  <dcterms:modified xsi:type="dcterms:W3CDTF">2026-06-16T13:02:05.8050000Z</dcterms:modified>
</coreProperties>
</file>